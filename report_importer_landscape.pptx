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2"/>
    <p:sldId id="256" r:id="rId3"/>
    <p:sldId id="257" r:id="rId4"/>
    <p:sldId id="272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8" r:id="rId14"/>
    <p:sldId id="269" r:id="rId15"/>
    <p:sldId id="273" r:id="rId16"/>
    <p:sldId id="265" r:id="rId17"/>
    <p:sldId id="266" r:id="rId18"/>
    <p:sldId id="271" r:id="rId19"/>
    <p:sldId id="270" r:id="rId20"/>
    <p:sldId id="274" r:id="rId21"/>
    <p:sldId id="275" r:id="rId22"/>
    <p:sldId id="276" r:id="rId23"/>
    <p:sldId id="278" r:id="rId24"/>
    <p:sldId id="277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689A8-3443-68E8-A726-376B900FE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83F78B-22EE-760A-34F7-B41672891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FA4F8-F20F-6D85-E460-F1650C5B4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017F-B07F-A041-BF74-4843DA7B2A2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91CEE-BC27-F393-0F46-50EE6A1C2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EA4A2-8390-5AE5-8397-71F6EF474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255E-0DCE-0942-8B65-5B4C926F0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0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3B3C0-EE8E-A536-D2F5-6D8C6FB6C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5AE96-8C0C-7AB4-FBBD-477A8A170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29B27-243F-73C0-CDDA-A83FB9755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017F-B07F-A041-BF74-4843DA7B2A2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42B01-7209-7387-63D5-1352556E1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A2357-78FB-A4BB-92C8-36AC30A1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255E-0DCE-0942-8B65-5B4C926F0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90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87D58-E7F6-5FE2-A537-C7E967A4F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80A95-4CE4-5C52-3FBA-06F51D070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AB296-1A49-A084-E675-E944C515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017F-B07F-A041-BF74-4843DA7B2A2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AF436-CD0D-13EA-0C1A-0528FB1DF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5AAB4-97CE-7FFE-9E03-AAA00171E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255E-0DCE-0942-8B65-5B4C926F0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2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06F23-2C06-B600-29F9-B80C9037B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E1B18-A7A3-FBEE-82EC-5C45B7EC0E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E6B64-4408-E44C-49CF-FFC27D386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DCF8A-5F81-02B4-CFD2-4E2FAC1AD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017F-B07F-A041-BF74-4843DA7B2A2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5E21E-8851-A7B7-3C58-F12165ABD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557D6-AAED-16F4-BE6F-B56A8A62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255E-0DCE-0942-8B65-5B4C926F0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397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436B2-5C18-529E-27F3-383938B61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FF362-9B5C-308E-21EC-E8AAFA214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68DD30-BA67-0A33-71C6-C134A5217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90BC2-696A-FB61-A524-1A7BB41CD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E4E75-3552-008B-9B4D-B784A86D4A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8581D0-6774-2688-D029-FB80464AE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017F-B07F-A041-BF74-4843DA7B2A2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92F25-646F-76FF-7638-3A81E17FC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CC4053-CF89-56EC-83A0-EA70F50D6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255E-0DCE-0942-8B65-5B4C926F0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6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C5749-25FC-2785-A96B-F75B4571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913F55-DB3E-8CC5-C663-6CF5E74B2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017F-B07F-A041-BF74-4843DA7B2A2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AD84E9-5530-7087-4A1F-7423B8DA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70F15F-0C8A-E1DA-35F3-8A21071EC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255E-0DCE-0942-8B65-5B4C926F0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88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D417C2-6726-7F34-E544-31449D941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017F-B07F-A041-BF74-4843DA7B2A2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A3CD98-A964-0293-3454-D83DCB16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BAA0D-A407-03D6-26C5-41FD532A8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255E-0DCE-0942-8B65-5B4C926F0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661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10484-1426-52B6-25F8-94EF82A80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AB224-65BD-AE6C-5923-91ED400ED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5D1E1-45A0-A53B-D8F2-37674CC31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A0DBF-CDF8-E82D-0D42-68DD1A106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017F-B07F-A041-BF74-4843DA7B2A2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A1EA13-B3A9-AA44-4FE8-922D7C21E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B5DAB-3045-4189-99C8-1C24467EC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255E-0DCE-0942-8B65-5B4C926F0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55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DE7A7-B868-734F-C4A7-763A5541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97D084-320B-F4E5-3442-0126411E5A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ED09F-361B-8969-4357-74B9710F8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86215-41F9-FF0E-E3C7-84B3FCBED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017F-B07F-A041-BF74-4843DA7B2A2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09C2E-1F3A-B1B2-C428-A8C5006A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823C0-4625-0C94-3E32-22BF0F077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255E-0DCE-0942-8B65-5B4C926F0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03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5ABAB-C209-1104-1B42-ED1637E4C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10ABE8-3361-47D7-0644-8D7EA01B8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6290E-2FE0-17FB-C454-6044A4E5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017F-B07F-A041-BF74-4843DA7B2A2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F1ADD-116C-15E5-01A7-BC2DE71C5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93DBD-5A19-AE20-917C-9EB8E87F9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255E-0DCE-0942-8B65-5B4C926F0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759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9613FB-5A1E-BBD7-11DE-D36B602E88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C6441-452D-3D71-D240-63691A4F5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AB8AF-4C28-FAD4-E958-136585BB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6017F-B07F-A041-BF74-4843DA7B2A2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A810E-3864-D1D9-F87F-EEB76A4E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78F70-7716-861C-74F0-64EEC3589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255E-0DCE-0942-8B65-5B4C926F0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2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9CDB39-B1B7-D0A3-D06B-FCF9CBF9C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C5826-277E-28D5-B429-97FF92E96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399DA-AA05-F464-B044-C01FD57BA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6017F-B07F-A041-BF74-4843DA7B2A2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7177B-8FD4-C14D-C4A4-1690A56A69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1D5B8-F74C-F918-8F95-37DCE97E2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D255E-0DCE-0942-8B65-5B4C926F00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5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AE85-C891-E0B2-0A9A-FF22339EE9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Coding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BED437-EBB9-7C9C-1741-671FC0AAB6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Drandreb Earl O. </a:t>
            </a:r>
            <a:r>
              <a:rPr lang="en-US"/>
              <a:t>Juanico</a:t>
            </a:r>
          </a:p>
        </p:txBody>
      </p:sp>
    </p:spTree>
    <p:extLst>
      <p:ext uri="{BB962C8B-B14F-4D97-AF65-F5344CB8AC3E}">
        <p14:creationId xmlns:p14="http://schemas.microsoft.com/office/powerpoint/2010/main" val="1086373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22B340-E6A4-7B36-2396-803A45F29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Ingestion and Structural Validation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B5A543-1F42-ED84-8BD9-D7C0FDE52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Row counts</a:t>
            </a:r>
          </a:p>
          <a:p>
            <a:pPr lvl="1"/>
            <a:r>
              <a:rPr lang="en-US" dirty="0"/>
              <a:t>Main data: 4,158,454 rows</a:t>
            </a:r>
          </a:p>
          <a:p>
            <a:pPr lvl="1"/>
            <a:r>
              <a:rPr lang="en-US" dirty="0"/>
              <a:t>Ports: 10,927 rows</a:t>
            </a:r>
          </a:p>
          <a:p>
            <a:pPr lvl="1"/>
            <a:r>
              <a:rPr lang="en-US" dirty="0"/>
              <a:t>Importer normalized: 46,175 rows</a:t>
            </a:r>
          </a:p>
          <a:p>
            <a:r>
              <a:rPr lang="en-US" dirty="0"/>
              <a:t>Missing values (nothing much to worry)</a:t>
            </a:r>
          </a:p>
          <a:p>
            <a:pPr lvl="1"/>
            <a:r>
              <a:rPr lang="en-US" dirty="0"/>
              <a:t>Only 3 rows in main data do not have </a:t>
            </a:r>
            <a:r>
              <a:rPr lang="en-US" i="1" dirty="0" err="1"/>
              <a:t>country_of_origin</a:t>
            </a:r>
            <a:endParaRPr lang="en-US" i="1" dirty="0"/>
          </a:p>
          <a:p>
            <a:pPr lvl="1"/>
            <a:r>
              <a:rPr lang="en-US" dirty="0"/>
              <a:t>~0.000072% </a:t>
            </a:r>
          </a:p>
          <a:p>
            <a:pPr lvl="2"/>
            <a:r>
              <a:rPr lang="en-US" dirty="0"/>
              <a:t>Total: 4 TEU (~0.00000074%)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757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ADAF0-E81B-F1AA-BC2E-78624D86C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TEU data standardized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D5583-78C3-98ED-866D-5ED38073B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 values </a:t>
            </a:r>
            <a:r>
              <a:rPr lang="en-US" dirty="0">
                <a:sym typeface="Wingdings" pitchFamily="2" charset="2"/>
              </a:rPr>
              <a:t> floats</a:t>
            </a:r>
          </a:p>
          <a:p>
            <a:r>
              <a:rPr lang="en-US" dirty="0">
                <a:sym typeface="Wingdings" pitchFamily="2" charset="2"/>
              </a:rPr>
              <a:t>TEU&lt;0  None</a:t>
            </a:r>
          </a:p>
          <a:p>
            <a:r>
              <a:rPr lang="en-US" dirty="0">
                <a:sym typeface="Wingdings" pitchFamily="2" charset="2"/>
              </a:rPr>
              <a:t>Extreme outliers were </a:t>
            </a:r>
            <a:r>
              <a:rPr lang="en-US" dirty="0" err="1">
                <a:sym typeface="Wingdings" pitchFamily="2" charset="2"/>
              </a:rPr>
              <a:t>winsorized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437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DB15-54C9-0021-F0E5-59A17E141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49BDF-6313-3EDE-7155-EE42E7FFE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Univariate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Distribution Inequality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Country Dependency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Logistics Analysis</a:t>
            </a:r>
          </a:p>
        </p:txBody>
      </p:sp>
    </p:spTree>
    <p:extLst>
      <p:ext uri="{BB962C8B-B14F-4D97-AF65-F5344CB8AC3E}">
        <p14:creationId xmlns:p14="http://schemas.microsoft.com/office/powerpoint/2010/main" val="3686453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CB83A-0E36-52EB-3FD6-4A41E830F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70241-0F13-35A7-99DB-8FD732A36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 understand distributions and scale</a:t>
            </a:r>
          </a:p>
          <a:p>
            <a:r>
              <a:rPr lang="en-US" dirty="0"/>
              <a:t>Import Volume</a:t>
            </a:r>
          </a:p>
          <a:p>
            <a:pPr lvl="1"/>
            <a:r>
              <a:rPr lang="en-US" dirty="0"/>
              <a:t>TEU distribution</a:t>
            </a:r>
          </a:p>
          <a:p>
            <a:pPr lvl="2"/>
            <a:r>
              <a:rPr lang="en-US" dirty="0"/>
              <a:t>Overall, per-company, per-country-of-origin, per port-of-unlading</a:t>
            </a:r>
          </a:p>
          <a:p>
            <a:pPr lvl="1"/>
            <a:r>
              <a:rPr lang="en-US" dirty="0"/>
              <a:t>Inequalities</a:t>
            </a:r>
          </a:p>
          <a:p>
            <a:pPr lvl="2"/>
            <a:r>
              <a:rPr lang="en-US" dirty="0"/>
              <a:t>Heavy-</a:t>
            </a:r>
            <a:r>
              <a:rPr lang="en-US" dirty="0" err="1"/>
              <a:t>tailedness</a:t>
            </a:r>
            <a:r>
              <a:rPr lang="en-US" dirty="0"/>
              <a:t>, Lorenz curves, Gini coefficients</a:t>
            </a:r>
          </a:p>
          <a:p>
            <a:r>
              <a:rPr lang="en-US" dirty="0"/>
              <a:t>Temporal Trends</a:t>
            </a:r>
          </a:p>
          <a:p>
            <a:pPr lvl="1"/>
            <a:r>
              <a:rPr lang="en-US" dirty="0"/>
              <a:t>Monthly TEU trends</a:t>
            </a:r>
          </a:p>
        </p:txBody>
      </p:sp>
    </p:spTree>
    <p:extLst>
      <p:ext uri="{BB962C8B-B14F-4D97-AF65-F5344CB8AC3E}">
        <p14:creationId xmlns:p14="http://schemas.microsoft.com/office/powerpoint/2010/main" val="450773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49B33-0F43-9A10-D2A5-5C540D33D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495C8E-9C69-3A0B-AF43-39FA60BC7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73486"/>
            <a:ext cx="5384800" cy="3505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09EBBA-606A-94B6-1225-5D4EDBE5A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748" y="2073486"/>
            <a:ext cx="5562600" cy="3467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C008D5-16CB-B833-A32A-F0CE3D46C2B8}"/>
              </a:ext>
            </a:extLst>
          </p:cNvPr>
          <p:cNvSpPr txBox="1"/>
          <p:nvPr/>
        </p:nvSpPr>
        <p:spPr>
          <a:xfrm>
            <a:off x="1775791" y="5764696"/>
            <a:ext cx="3312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Basis of Importer Segmentation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F0A63F-9E01-9BA6-BBE5-E74E8B2CCD13}"/>
              </a:ext>
            </a:extLst>
          </p:cNvPr>
          <p:cNvCxnSpPr/>
          <p:nvPr/>
        </p:nvCxnSpPr>
        <p:spPr>
          <a:xfrm flipV="1">
            <a:off x="4109545" y="2480441"/>
            <a:ext cx="0" cy="2753711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832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8EA82-B0E5-46A7-B0F0-A6EAF9B3A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TEU Distribution by Country of Origin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11DF65-7680-13AC-1638-8E60945B5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0" y="1339850"/>
            <a:ext cx="4279900" cy="4178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60A1AD-63F9-4246-AF27-1408C5C99582}"/>
              </a:ext>
            </a:extLst>
          </p:cNvPr>
          <p:cNvSpPr txBox="1"/>
          <p:nvPr/>
        </p:nvSpPr>
        <p:spPr>
          <a:xfrm>
            <a:off x="3707027" y="6067168"/>
            <a:ext cx="4535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China accounts &gt; 20% of global TEU volume</a:t>
            </a:r>
          </a:p>
        </p:txBody>
      </p:sp>
    </p:spTree>
    <p:extLst>
      <p:ext uri="{BB962C8B-B14F-4D97-AF65-F5344CB8AC3E}">
        <p14:creationId xmlns:p14="http://schemas.microsoft.com/office/powerpoint/2010/main" val="1527911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DCC53-30F5-0675-CC7A-5E0EE4E6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TEU Distribution by Port of Unlading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59F978-DB29-AF10-FA25-717DFB71E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0" y="1339850"/>
            <a:ext cx="4038600" cy="4178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9EC260-5A7C-0D56-1EC8-58401E42F15E}"/>
              </a:ext>
            </a:extLst>
          </p:cNvPr>
          <p:cNvSpPr txBox="1"/>
          <p:nvPr/>
        </p:nvSpPr>
        <p:spPr>
          <a:xfrm>
            <a:off x="3707027" y="6067168"/>
            <a:ext cx="64320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4601: New York/Newark accounts ~ 20% of entries (East Coast)</a:t>
            </a:r>
          </a:p>
          <a:p>
            <a:r>
              <a:rPr lang="en-US" dirty="0"/>
              <a:t>2704: Los Angeles, CA (West Coast)</a:t>
            </a:r>
          </a:p>
        </p:txBody>
      </p:sp>
    </p:spTree>
    <p:extLst>
      <p:ext uri="{BB962C8B-B14F-4D97-AF65-F5344CB8AC3E}">
        <p14:creationId xmlns:p14="http://schemas.microsoft.com/office/powerpoint/2010/main" val="113011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9A29-0769-5F27-8CA4-CB42CE90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TEU Distribution Inequality by Volume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615664-BCCB-ACDF-36B3-D3C39785C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0" y="1379497"/>
            <a:ext cx="4381500" cy="444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0169E4-3648-2A7A-DE63-DFC4119992D3}"/>
              </a:ext>
            </a:extLst>
          </p:cNvPr>
          <p:cNvSpPr txBox="1"/>
          <p:nvPr/>
        </p:nvSpPr>
        <p:spPr>
          <a:xfrm>
            <a:off x="3707027" y="6067168"/>
            <a:ext cx="2488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Gini coefficient: 0.5565</a:t>
            </a:r>
          </a:p>
          <a:p>
            <a:r>
              <a:rPr lang="en-US" dirty="0"/>
              <a:t>High inequality</a:t>
            </a:r>
          </a:p>
        </p:txBody>
      </p:sp>
    </p:spTree>
    <p:extLst>
      <p:ext uri="{BB962C8B-B14F-4D97-AF65-F5344CB8AC3E}">
        <p14:creationId xmlns:p14="http://schemas.microsoft.com/office/powerpoint/2010/main" val="2299373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1A91C-ABE5-BA70-A257-01ED69A2E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485B0-AF3A-6469-5A42-661D3995B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TEU Distribution Inequality by Country of Origin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5F271E-DBA9-E954-2A7D-194C670BD4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05250" y="1379497"/>
            <a:ext cx="4381500" cy="444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F44C31-D99B-07BB-CDCF-C030967F7E19}"/>
              </a:ext>
            </a:extLst>
          </p:cNvPr>
          <p:cNvSpPr txBox="1"/>
          <p:nvPr/>
        </p:nvSpPr>
        <p:spPr>
          <a:xfrm>
            <a:off x="3707027" y="6067168"/>
            <a:ext cx="5989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Gini coefficient: 0.8995</a:t>
            </a:r>
          </a:p>
          <a:p>
            <a:r>
              <a:rPr lang="en-US" dirty="0"/>
              <a:t>Critically High inequality </a:t>
            </a:r>
            <a:r>
              <a:rPr lang="en-US" dirty="0">
                <a:sym typeface="Wingdings" pitchFamily="2" charset="2"/>
              </a:rPr>
              <a:t> vulnerability to geopolitical risk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210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75991-8914-361C-92AA-2F380B6A5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Proportion by Country Dependency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761B57-9463-AD5F-D2EF-2D5BD9EE3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027" y="1695450"/>
            <a:ext cx="5334000" cy="34671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6BB6C3-D550-1F83-5C7D-9977F183EBBA}"/>
              </a:ext>
            </a:extLst>
          </p:cNvPr>
          <p:cNvSpPr txBox="1"/>
          <p:nvPr/>
        </p:nvSpPr>
        <p:spPr>
          <a:xfrm>
            <a:off x="1040027" y="5846544"/>
            <a:ext cx="6256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 than 80% of importers rely on at most 2 country sources</a:t>
            </a:r>
          </a:p>
          <a:p>
            <a:r>
              <a:rPr lang="en-US" dirty="0"/>
              <a:t>Prevalence of Low diversification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D88155-1D37-B559-F410-0D9C68C6D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866" y="1402183"/>
            <a:ext cx="3394934" cy="28410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12A6AA-79A3-98CC-AF64-5A15865A4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866" y="3954701"/>
            <a:ext cx="3394934" cy="287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33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2050E-2E09-19D1-6EDC-7A5D6A7FA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Ports and Logistics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66790C-50B1-A0FD-C79F-B59E17938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335" y="1307050"/>
            <a:ext cx="8866865" cy="484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02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56293-80E0-A2CD-1A1C-F0DC850C8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Ports and Logistics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5B35A2-9ED1-2C19-05F9-E99C6480A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297" y="1516077"/>
            <a:ext cx="6748849" cy="534192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98939A-7957-E60C-0AD2-7EF4CBB213F1}"/>
              </a:ext>
            </a:extLst>
          </p:cNvPr>
          <p:cNvCxnSpPr/>
          <p:nvPr/>
        </p:nvCxnSpPr>
        <p:spPr>
          <a:xfrm>
            <a:off x="5066270" y="1690688"/>
            <a:ext cx="0" cy="4265269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1FD25EE-B2A9-1AEE-EE97-3E2A569000A4}"/>
              </a:ext>
            </a:extLst>
          </p:cNvPr>
          <p:cNvCxnSpPr>
            <a:cxnSpLocks/>
          </p:cNvCxnSpPr>
          <p:nvPr/>
        </p:nvCxnSpPr>
        <p:spPr>
          <a:xfrm>
            <a:off x="4213653" y="3736823"/>
            <a:ext cx="401594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795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5E991-59FE-9F76-F078-FC6C5B66B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Country </a:t>
            </a:r>
            <a:r>
              <a:rPr lang="en-US" dirty="0">
                <a:sym typeface="Wingdings" pitchFamily="2" charset="2"/>
              </a:rPr>
              <a:t> Port TEU Flows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D72077-9D2A-CAB2-4430-CCCAB0ADA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51" y="1283990"/>
            <a:ext cx="10175501" cy="56164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23601E-8E09-A784-2391-0D68DD8D0445}"/>
              </a:ext>
            </a:extLst>
          </p:cNvPr>
          <p:cNvSpPr txBox="1"/>
          <p:nvPr/>
        </p:nvSpPr>
        <p:spPr>
          <a:xfrm>
            <a:off x="6497444" y="5196468"/>
            <a:ext cx="48978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Trans-Pacific and Trans-Atlantic flows dominate</a:t>
            </a:r>
          </a:p>
          <a:p>
            <a:r>
              <a:rPr lang="en-US" dirty="0"/>
              <a:t>Aligning with China/Germany as top 2 sources</a:t>
            </a:r>
          </a:p>
        </p:txBody>
      </p:sp>
    </p:spTree>
    <p:extLst>
      <p:ext uri="{BB962C8B-B14F-4D97-AF65-F5344CB8AC3E}">
        <p14:creationId xmlns:p14="http://schemas.microsoft.com/office/powerpoint/2010/main" val="999942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4875C-33D4-704C-52EC-71CCC96E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4CC99-F28E-48B5-7BBB-263BF6F9D7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TEU cutoff = 200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Top-2 share cutoff = 80%</a:t>
            </a:r>
          </a:p>
        </p:txBody>
      </p:sp>
    </p:spTree>
    <p:extLst>
      <p:ext uri="{BB962C8B-B14F-4D97-AF65-F5344CB8AC3E}">
        <p14:creationId xmlns:p14="http://schemas.microsoft.com/office/powerpoint/2010/main" val="3258151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EB95-FF15-EF43-AC54-2A5FF2373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Importer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0F272-69EC-F002-CB36-D0C81FB5D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Segment 1 (HVLD)</a:t>
            </a:r>
          </a:p>
          <a:p>
            <a:pPr lvl="1"/>
            <a:r>
              <a:rPr lang="en-US" dirty="0"/>
              <a:t>High-volume/Low-diversification (&gt;=200 TEU; &gt;=80%TEU, &lt;=2 countries)</a:t>
            </a:r>
          </a:p>
          <a:p>
            <a:r>
              <a:rPr lang="en-US" dirty="0"/>
              <a:t>Segment 2 (HVHD)</a:t>
            </a:r>
          </a:p>
          <a:p>
            <a:pPr lvl="1"/>
            <a:r>
              <a:rPr lang="en-US" dirty="0"/>
              <a:t>High-volume/High-</a:t>
            </a:r>
            <a:r>
              <a:rPr lang="en-US" dirty="0" err="1"/>
              <a:t>diversiication</a:t>
            </a:r>
            <a:r>
              <a:rPr lang="en-US" dirty="0"/>
              <a:t> (&gt;=200 TEU; &gt;=80%TEU,  &gt;=3 countries )</a:t>
            </a:r>
          </a:p>
          <a:p>
            <a:r>
              <a:rPr lang="en-US" dirty="0"/>
              <a:t>Segment 3 (LVLD)</a:t>
            </a:r>
          </a:p>
          <a:p>
            <a:pPr lvl="1"/>
            <a:r>
              <a:rPr lang="en-US" dirty="0"/>
              <a:t>Low-volume/Low-diversification (&lt;200 TEU; &gt;=80%TEU, &lt;=2 countries)</a:t>
            </a:r>
          </a:p>
          <a:p>
            <a:r>
              <a:rPr lang="en-US" dirty="0"/>
              <a:t>Segment 4 (LVHD)</a:t>
            </a:r>
          </a:p>
          <a:p>
            <a:pPr lvl="1"/>
            <a:r>
              <a:rPr lang="en-US" dirty="0"/>
              <a:t>Low-volume/High-diversification (&lt;200 TEU; &gt;=80%TEU, &gt;=3 countries)</a:t>
            </a:r>
          </a:p>
        </p:txBody>
      </p:sp>
    </p:spTree>
    <p:extLst>
      <p:ext uri="{BB962C8B-B14F-4D97-AF65-F5344CB8AC3E}">
        <p14:creationId xmlns:p14="http://schemas.microsoft.com/office/powerpoint/2010/main" val="1891105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68A1185-6C87-4315-E648-091416AEECA4}"/>
              </a:ext>
            </a:extLst>
          </p:cNvPr>
          <p:cNvGrpSpPr/>
          <p:nvPr/>
        </p:nvGrpSpPr>
        <p:grpSpPr>
          <a:xfrm>
            <a:off x="357352" y="1124607"/>
            <a:ext cx="5812224" cy="5733393"/>
            <a:chOff x="2667000" y="1411014"/>
            <a:chExt cx="5446986" cy="544698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056FD19-DD4A-2E9A-324B-0EA4A2863F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67000" y="1411014"/>
              <a:ext cx="5446986" cy="5446986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DAD6C86-E34F-D995-EB17-D6099753E517}"/>
                </a:ext>
              </a:extLst>
            </p:cNvPr>
            <p:cNvSpPr txBox="1"/>
            <p:nvPr/>
          </p:nvSpPr>
          <p:spPr>
            <a:xfrm>
              <a:off x="3216165" y="3809844"/>
              <a:ext cx="12394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Segment 1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86A2256-611C-97BF-4126-CB9FA3D8ABA5}"/>
                </a:ext>
              </a:extLst>
            </p:cNvPr>
            <p:cNvSpPr txBox="1"/>
            <p:nvPr/>
          </p:nvSpPr>
          <p:spPr>
            <a:xfrm>
              <a:off x="6096000" y="3809844"/>
              <a:ext cx="12394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Segment 2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98FD539-1E06-6DBB-ECCE-6A5C3799BE6B}"/>
                </a:ext>
              </a:extLst>
            </p:cNvPr>
            <p:cNvSpPr txBox="1"/>
            <p:nvPr/>
          </p:nvSpPr>
          <p:spPr>
            <a:xfrm>
              <a:off x="6096000" y="6488668"/>
              <a:ext cx="12394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Segment 4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6F3805F-A818-92A6-DEA9-B53CB45A2EC8}"/>
                </a:ext>
              </a:extLst>
            </p:cNvPr>
            <p:cNvSpPr txBox="1"/>
            <p:nvPr/>
          </p:nvSpPr>
          <p:spPr>
            <a:xfrm>
              <a:off x="3216165" y="6488668"/>
              <a:ext cx="12394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Segment 3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D65EE4-DA03-DF92-7A1F-E9A930920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Importer Segments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016C4E70-69EA-1F4C-04EC-58FFD0C2B90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52077556"/>
              </p:ext>
            </p:extLst>
          </p:nvPr>
        </p:nvGraphicFramePr>
        <p:xfrm>
          <a:off x="6172200" y="1825625"/>
          <a:ext cx="5181600" cy="268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387813128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726123286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9177276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Interpretation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Investment Lens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91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Segment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Large but concentrated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Supply-chain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615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Segment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Large and diversified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Resilient/best-in-class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097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Segment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Small and concentrated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Fragile long tail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10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Segment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Small but diversified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i="1" dirty="0"/>
                        <a:t>Promising growth segment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982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811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3D77F-6274-1F95-6ED5-1EE316A31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Predictive ML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E35C7-EFD4-FCEF-FA18-6BEB99A97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Early-Warning Classifier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Supply-Chain Risk Scoring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Growth/Segment-Upgrade Potential</a:t>
            </a:r>
          </a:p>
        </p:txBody>
      </p:sp>
    </p:spTree>
    <p:extLst>
      <p:ext uri="{BB962C8B-B14F-4D97-AF65-F5344CB8AC3E}">
        <p14:creationId xmlns:p14="http://schemas.microsoft.com/office/powerpoint/2010/main" val="2346281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0846A-68BF-8468-D411-94E038019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Early-Warning Classifier (Segment 1 Risk)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F94EC3-FA82-CCE9-B0B3-DDB586F99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93498"/>
            <a:ext cx="6634004" cy="44077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D439EB7-3B8D-66FE-7A89-272F7DAA0128}"/>
              </a:ext>
            </a:extLst>
          </p:cNvPr>
          <p:cNvSpPr txBox="1"/>
          <p:nvPr/>
        </p:nvSpPr>
        <p:spPr>
          <a:xfrm>
            <a:off x="838200" y="1447167"/>
            <a:ext cx="10323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Binary </a:t>
            </a:r>
            <a:r>
              <a:rPr lang="en-US" dirty="0" err="1"/>
              <a:t>LightGBM</a:t>
            </a:r>
            <a:r>
              <a:rPr lang="en-US" dirty="0"/>
              <a:t> early-warning classifier that uses H1 (≤ June) importer signals to predict whether an importer will end the year as </a:t>
            </a:r>
            <a:r>
              <a:rPr lang="en-US" b="1" dirty="0"/>
              <a:t>Segment 1</a:t>
            </a:r>
            <a:r>
              <a:rPr lang="en-US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2528A-2685-4720-0AC7-E6EAB2CF9AAB}"/>
              </a:ext>
            </a:extLst>
          </p:cNvPr>
          <p:cNvSpPr txBox="1"/>
          <p:nvPr/>
        </p:nvSpPr>
        <p:spPr>
          <a:xfrm>
            <a:off x="7472204" y="2312203"/>
            <a:ext cx="388288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Early-warning performance.</a:t>
            </a:r>
            <a:r>
              <a:rPr lang="en-US" dirty="0"/>
              <a:t> Despite Segment 1 being a minority class (~15%), the </a:t>
            </a:r>
            <a:r>
              <a:rPr lang="en-US" dirty="0" err="1"/>
              <a:t>LightGBM</a:t>
            </a:r>
            <a:r>
              <a:rPr lang="en-US" dirty="0"/>
              <a:t> ranker shows strong discrimination (test ROC-AUC ≈ 0.95; PR-AUC ≈ 0.87). Using only ≤ June signals, it reliably surfaces a small watchlist (e.g., Top-50/100) of importers likely to end the year as high-volume, country-concentrated Segment 1. In practice, false positives can be controlled by selecting an operating point based on Top-K screening capacity rather than a fixed 0.5 threshold.</a:t>
            </a:r>
          </a:p>
        </p:txBody>
      </p:sp>
    </p:spTree>
    <p:extLst>
      <p:ext uri="{BB962C8B-B14F-4D97-AF65-F5344CB8AC3E}">
        <p14:creationId xmlns:p14="http://schemas.microsoft.com/office/powerpoint/2010/main" val="910510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AB76-86F8-28EE-AA4D-88FA273C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Supply-Chain Risk 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5D37E-6802-DCB3-EDDE-189470FEA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</a:t>
            </a:r>
            <a:r>
              <a:rPr lang="en-US" dirty="0"/>
              <a:t> Estimate the supply-chain fragility of US importers for</a:t>
            </a:r>
          </a:p>
          <a:p>
            <a:pPr lvl="1"/>
            <a:r>
              <a:rPr lang="en-US" dirty="0"/>
              <a:t>Investment screening</a:t>
            </a:r>
          </a:p>
          <a:p>
            <a:pPr lvl="1"/>
            <a:r>
              <a:rPr lang="en-US" dirty="0"/>
              <a:t>M&amp;A due diligence</a:t>
            </a:r>
          </a:p>
          <a:p>
            <a:pPr lvl="1"/>
            <a:r>
              <a:rPr lang="en-US" dirty="0"/>
              <a:t>Scenario stress testing</a:t>
            </a:r>
          </a:p>
          <a:p>
            <a:r>
              <a:rPr lang="en-US" b="1" dirty="0"/>
              <a:t>Target: </a:t>
            </a:r>
            <a:r>
              <a:rPr lang="en-US" dirty="0"/>
              <a:t>Continuous risk score (0-100) representing</a:t>
            </a:r>
          </a:p>
          <a:p>
            <a:pPr lvl="1"/>
            <a:r>
              <a:rPr lang="en-US" dirty="0"/>
              <a:t>Likelihood that company’s import operations are meaningfully disrupted by a country-level shock</a:t>
            </a:r>
            <a:endParaRPr lang="en-US" b="1" dirty="0"/>
          </a:p>
          <a:p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071DFD-4B71-14A0-C802-1878AC0B3383}"/>
                  </a:ext>
                </a:extLst>
              </p:cNvPr>
              <p:cNvSpPr txBox="1"/>
              <p:nvPr/>
            </p:nvSpPr>
            <p:spPr>
              <a:xfrm>
                <a:off x="2027583" y="5234609"/>
                <a:ext cx="8136834" cy="71109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RiskScore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0−100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=100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num>
                                        <m:den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⊺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𝒂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⨀</m:t>
                                  </m:r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071DFD-4B71-14A0-C802-1878AC0B3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583" y="5234609"/>
                <a:ext cx="8136834" cy="711092"/>
              </a:xfrm>
              <a:prstGeom prst="rect">
                <a:avLst/>
              </a:prstGeom>
              <a:blipFill>
                <a:blip r:embed="rId2"/>
                <a:stretch>
                  <a:fillRect b="-1206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15105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91B0B-B966-44B4-316F-D18C8A5D6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1E59-888C-2696-A9D9-7308E5623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Supply-Chain Risk 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96DC6-89B5-6B8C-8787-6E62A5A3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Features</a:t>
            </a:r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F96C04-D2C0-4255-9242-A5ED91B87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226620"/>
              </p:ext>
            </p:extLst>
          </p:nvPr>
        </p:nvGraphicFramePr>
        <p:xfrm>
          <a:off x="2032000" y="2521962"/>
          <a:ext cx="8128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69394523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544364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Derived from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148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annual TEU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Volume axis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653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% TEU from top 1 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Concentration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444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% TEU from top 2 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Concentration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791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Number of source 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Diversification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9364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Segment membership (1-4)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Structural 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616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Port concentration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Logistics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21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HS code concentration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911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Month-to-month TEU volatility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403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9877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691C-D567-66AA-F6A0-645DEACC7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Diversification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7F2013-9485-B0C1-5E87-F838B90C8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080276" cy="40434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4AD317-76DF-5E9D-2C0D-95569D4C2F2D}"/>
              </a:ext>
            </a:extLst>
          </p:cNvPr>
          <p:cNvSpPr txBox="1"/>
          <p:nvPr/>
        </p:nvSpPr>
        <p:spPr>
          <a:xfrm>
            <a:off x="6273526" y="1690688"/>
            <a:ext cx="50802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Diversification alone meaningfully separates risk among low-volume importers. </a:t>
            </a:r>
            <a:r>
              <a:rPr lang="en-US" dirty="0"/>
              <a:t>Even when TEU is constrained (&lt;200), importers with concentrated sourcing (Segment 3) exhibit systematically higher and more volatile risk scores, while diversified importers (Segment 4) remain consistently low-risk.</a:t>
            </a:r>
          </a:p>
          <a:p>
            <a:endParaRPr lang="en-US" dirty="0"/>
          </a:p>
          <a:p>
            <a:r>
              <a:rPr lang="en-US" dirty="0"/>
              <a:t>Overlap between the two distributions is minimal, which validates that the weighted risk score is not noisy or arbitrary—it is capturing a real structural difference.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800E17-041F-0A2C-224C-A85F0F6140CB}"/>
              </a:ext>
            </a:extLst>
          </p:cNvPr>
          <p:cNvSpPr txBox="1"/>
          <p:nvPr/>
        </p:nvSpPr>
        <p:spPr>
          <a:xfrm>
            <a:off x="8852452" y="5972382"/>
            <a:ext cx="33395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Mann-Whitney U test: Segment 3 &gt; Segment 4</a:t>
            </a:r>
          </a:p>
          <a:p>
            <a:r>
              <a:rPr lang="en-US" sz="1100" dirty="0">
                <a:solidFill>
                  <a:srgbClr val="FF0000"/>
                </a:solidFill>
              </a:rPr>
              <a:t>U statistic: 24489.0, p-value &lt; 0.0001</a:t>
            </a:r>
          </a:p>
        </p:txBody>
      </p:sp>
    </p:spTree>
    <p:extLst>
      <p:ext uri="{BB962C8B-B14F-4D97-AF65-F5344CB8AC3E}">
        <p14:creationId xmlns:p14="http://schemas.microsoft.com/office/powerpoint/2010/main" val="527736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43774-F827-1890-FB8B-C3CFA137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98C1-3EAB-4E62-0459-3E1618AD3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of Diversification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B2477-6D11-2B8F-D0F8-E267DE52C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5080276" cy="40434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AD9F67-26CE-F5FF-CDA4-CA407C8C624D}"/>
              </a:ext>
            </a:extLst>
          </p:cNvPr>
          <p:cNvSpPr txBox="1"/>
          <p:nvPr/>
        </p:nvSpPr>
        <p:spPr>
          <a:xfrm>
            <a:off x="6273526" y="1690688"/>
            <a:ext cx="442097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Implications for Investment Screening and M&amp;A Due Diligence. </a:t>
            </a:r>
            <a:r>
              <a:rPr lang="en-US" i="1" dirty="0"/>
              <a:t>By holding volume maximum constant (200 TEU), the Segment 3 vs Segment 4 analysis isolates supply-chain structure as a driver of risk. The clear separation and differential stress sensitivity allow Blume to distinguish between small importers that are </a:t>
            </a:r>
            <a:r>
              <a:rPr lang="en-US" b="1" i="1" dirty="0"/>
              <a:t>fragile by design</a:t>
            </a:r>
            <a:r>
              <a:rPr lang="en-US" i="1" dirty="0"/>
              <a:t> and those that are </a:t>
            </a:r>
            <a:r>
              <a:rPr lang="en-US" b="1" i="1" dirty="0"/>
              <a:t>resilient by design</a:t>
            </a:r>
            <a:r>
              <a:rPr lang="en-US" i="1" dirty="0"/>
              <a:t>—enabling faster screening, more targeted diligence, and better risk-adjusted investment decisions.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73B0E9-3089-FB45-93DD-418065BB2A33}"/>
              </a:ext>
            </a:extLst>
          </p:cNvPr>
          <p:cNvSpPr txBox="1"/>
          <p:nvPr/>
        </p:nvSpPr>
        <p:spPr>
          <a:xfrm>
            <a:off x="8852452" y="5972382"/>
            <a:ext cx="33395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Mann-Whitney U test: Segment 3 &gt; Segment 4</a:t>
            </a:r>
          </a:p>
          <a:p>
            <a:r>
              <a:rPr lang="en-US" sz="1100" dirty="0">
                <a:solidFill>
                  <a:srgbClr val="FF0000"/>
                </a:solidFill>
              </a:rPr>
              <a:t>U statistic: 24489.0, p-value &lt; 0.0001</a:t>
            </a:r>
          </a:p>
        </p:txBody>
      </p:sp>
    </p:spTree>
    <p:extLst>
      <p:ext uri="{BB962C8B-B14F-4D97-AF65-F5344CB8AC3E}">
        <p14:creationId xmlns:p14="http://schemas.microsoft.com/office/powerpoint/2010/main" val="4256423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78F42-5342-C12C-2D68-6DB86E8CB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Stress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38876-E00D-68EA-2211-0FD7BACC8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If conditions worsen, which segment becomes fragile faster?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B693C1-3F01-6333-EAA0-9787B4B3492E}"/>
              </a:ext>
            </a:extLst>
          </p:cNvPr>
          <p:cNvSpPr txBox="1"/>
          <p:nvPr/>
        </p:nvSpPr>
        <p:spPr>
          <a:xfrm>
            <a:off x="1470991" y="5420139"/>
            <a:ext cx="88524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PH" dirty="0"/>
              <a:t>Segment 3 importers are not only higher-risk at baseline, they are also systematically more sensitive to adverse changes in sourcing concentration and volatility. Segment 4 importers remain comparatively resilient under the same stress scenarios.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3C7E0B-4F10-389F-3BA8-2027E63DBB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88761"/>
              </p:ext>
            </p:extLst>
          </p:nvPr>
        </p:nvGraphicFramePr>
        <p:xfrm>
          <a:off x="838200" y="2636705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6174">
                  <a:extLst>
                    <a:ext uri="{9D8B030D-6E8A-4147-A177-3AD203B41FA5}">
                      <a16:colId xmlns:a16="http://schemas.microsoft.com/office/drawing/2014/main" val="309112905"/>
                    </a:ext>
                  </a:extLst>
                </a:gridCol>
                <a:gridCol w="2279373">
                  <a:extLst>
                    <a:ext uri="{9D8B030D-6E8A-4147-A177-3AD203B41FA5}">
                      <a16:colId xmlns:a16="http://schemas.microsoft.com/office/drawing/2014/main" val="4274039351"/>
                    </a:ext>
                  </a:extLst>
                </a:gridCol>
                <a:gridCol w="2261153">
                  <a:extLst>
                    <a:ext uri="{9D8B030D-6E8A-4147-A177-3AD203B41FA5}">
                      <a16:colId xmlns:a16="http://schemas.microsoft.com/office/drawing/2014/main" val="8054010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93327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Avg </a:t>
                      </a:r>
                      <a:r>
                        <a:rPr lang="el-GR" dirty="0"/>
                        <a:t>Δ </a:t>
                      </a:r>
                      <a:r>
                        <a:rPr lang="en-US" dirty="0"/>
                        <a:t>Risk (Seg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Avg </a:t>
                      </a:r>
                      <a:r>
                        <a:rPr lang="el-GR" dirty="0"/>
                        <a:t>Δ </a:t>
                      </a:r>
                      <a:r>
                        <a:rPr lang="en-US" dirty="0"/>
                        <a:t>Risk (Seg 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Mann-Whitney U (3&gt;4)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303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+0.10 top-2 country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+6.23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+3.26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24489, p-value &lt; 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222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+50% TEU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23608, p-value &lt; 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509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-0.5 country 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24489, p-value &lt; 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268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+0.15 port top-1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13968, p-value = 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382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+0.2 TEU volatility (CV)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24489, p-value &lt; 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6446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7695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E4D2C-149A-5A15-0EB9-38BD2184A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Growth/Segment-Upgrade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7D264-F0E7-C3F1-0B05-C1274EFCD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</a:t>
            </a:r>
            <a:r>
              <a:rPr lang="en-US" dirty="0"/>
              <a:t> Predict which TEU&lt;200 importers are most likely to move into a higher-value segment if volume grows.</a:t>
            </a:r>
          </a:p>
          <a:p>
            <a:pPr lvl="1"/>
            <a:endParaRPr lang="en-US" dirty="0"/>
          </a:p>
          <a:p>
            <a:r>
              <a:rPr lang="en-US" b="1" dirty="0"/>
              <a:t>Operational details: </a:t>
            </a:r>
          </a:p>
          <a:p>
            <a:pPr lvl="1"/>
            <a:r>
              <a:rPr lang="en-US" dirty="0"/>
              <a:t>Build year-end labels for Segment 1, 2, and 3/4.</a:t>
            </a:r>
          </a:p>
          <a:p>
            <a:pPr lvl="1"/>
            <a:r>
              <a:rPr lang="en-US" dirty="0"/>
              <a:t>Train </a:t>
            </a:r>
            <a:r>
              <a:rPr lang="en-US" dirty="0" err="1"/>
              <a:t>LightGBM</a:t>
            </a:r>
            <a:r>
              <a:rPr lang="en-US" dirty="0"/>
              <a:t> “teacher” models</a:t>
            </a:r>
          </a:p>
          <a:p>
            <a:pPr lvl="1"/>
            <a:r>
              <a:rPr lang="en-US" dirty="0"/>
              <a:t>Distill each teacher into a linear weighted score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30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E1FCE-6C79-521B-8B82-9FC7220D7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Paths: Interpretation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68DF99-3103-9390-6B66-5DB7B6738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12" y="1266618"/>
            <a:ext cx="7775713" cy="49037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71F4FF-874C-F6CD-4F3B-C18C44D04265}"/>
              </a:ext>
            </a:extLst>
          </p:cNvPr>
          <p:cNvSpPr txBox="1"/>
          <p:nvPr/>
        </p:nvSpPr>
        <p:spPr>
          <a:xfrm>
            <a:off x="1437860" y="3069260"/>
            <a:ext cx="43268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 </a:t>
            </a:r>
            <a:r>
              <a:rPr lang="en-US" b="1" dirty="0">
                <a:sym typeface="Wingdings" pitchFamily="2" charset="2"/>
              </a:rPr>
              <a:t> 1 (18.3%): </a:t>
            </a:r>
            <a:r>
              <a:rPr lang="en-US" i="1" dirty="0">
                <a:sym typeface="Wingdings" pitchFamily="2" charset="2"/>
              </a:rPr>
              <a:t>Risk-accumulating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Default growth path for small, concentrated importers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Scale volume first, diversify later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ym typeface="Wingdings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50C528-034F-42F9-D0E8-5E6AA5797966}"/>
              </a:ext>
            </a:extLst>
          </p:cNvPr>
          <p:cNvSpPr txBox="1"/>
          <p:nvPr/>
        </p:nvSpPr>
        <p:spPr>
          <a:xfrm>
            <a:off x="1928192" y="5667582"/>
            <a:ext cx="67784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ym typeface="Wingdings" pitchFamily="2" charset="2"/>
              </a:rPr>
              <a:t>3  4 (5.7%): </a:t>
            </a:r>
            <a:r>
              <a:rPr lang="en-US" i="1" dirty="0">
                <a:sym typeface="Wingdings" pitchFamily="2" charset="2"/>
              </a:rPr>
              <a:t>Behavioral upgrade before scale</a:t>
            </a:r>
            <a:r>
              <a:rPr lang="en-US" b="1" dirty="0">
                <a:sym typeface="Wingdings" pitchFamily="2" charset="2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Rare, but meaningful transition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Operational maturity precedes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Changing how they source, not just how much they import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BBE447-C07F-2202-DF7D-49D6445CEADF}"/>
              </a:ext>
            </a:extLst>
          </p:cNvPr>
          <p:cNvSpPr txBox="1"/>
          <p:nvPr/>
        </p:nvSpPr>
        <p:spPr>
          <a:xfrm>
            <a:off x="7663071" y="3061132"/>
            <a:ext cx="42009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 </a:t>
            </a:r>
            <a:r>
              <a:rPr lang="en-US" b="1" dirty="0">
                <a:sym typeface="Wingdings" pitchFamily="2" charset="2"/>
              </a:rPr>
              <a:t> 2 (29.5%): </a:t>
            </a:r>
            <a:r>
              <a:rPr lang="en-US" i="1" dirty="0">
                <a:sym typeface="Wingdings" pitchFamily="2" charset="2"/>
              </a:rPr>
              <a:t>Clean, resilient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High-quality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Already behave like large, resilient importers—they are just smaller today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Diversification is structural, not accidental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5A1AE4-C22A-6BAE-BF43-016F2BF8AA1D}"/>
              </a:ext>
            </a:extLst>
          </p:cNvPr>
          <p:cNvSpPr txBox="1"/>
          <p:nvPr/>
        </p:nvSpPr>
        <p:spPr>
          <a:xfrm>
            <a:off x="8852452" y="5972382"/>
            <a:ext cx="3339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=== Bootstrap Summary of Upgrade Probabilities===</a:t>
            </a:r>
          </a:p>
          <a:p>
            <a:pPr algn="ctr"/>
            <a:r>
              <a:rPr lang="en-US" sz="1100" dirty="0">
                <a:solidFill>
                  <a:srgbClr val="FF0000"/>
                </a:solidFill>
              </a:rPr>
              <a:t>p_31: mean=0.1829, 95% CI=(0.1789, 0.1869)</a:t>
            </a:r>
          </a:p>
          <a:p>
            <a:pPr algn="ctr"/>
            <a:r>
              <a:rPr lang="en-US" sz="1100" dirty="0">
                <a:solidFill>
                  <a:srgbClr val="FF0000"/>
                </a:solidFill>
              </a:rPr>
              <a:t>p_34: mean=0.0573, 95% CI=(0.0528, 0.0622)</a:t>
            </a:r>
          </a:p>
          <a:p>
            <a:pPr algn="ctr"/>
            <a:r>
              <a:rPr lang="en-US" sz="1100" dirty="0">
                <a:solidFill>
                  <a:srgbClr val="FF0000"/>
                </a:solidFill>
              </a:rPr>
              <a:t>p_42: mean=0.2938, 95% CI=(0.2390, 0.3486)</a:t>
            </a:r>
          </a:p>
        </p:txBody>
      </p:sp>
    </p:spTree>
    <p:extLst>
      <p:ext uri="{BB962C8B-B14F-4D97-AF65-F5344CB8AC3E}">
        <p14:creationId xmlns:p14="http://schemas.microsoft.com/office/powerpoint/2010/main" val="2870540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A2074-F431-984D-E25B-24D8C7DEF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D5B0-C50F-1808-7B52-A0848C59B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Paths: Meaning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9A5B1B-F737-F74A-DFBD-729BFBE3F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12" y="1266618"/>
            <a:ext cx="7775713" cy="49037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8D492D-F8AC-622B-3A2D-5D625A2001AC}"/>
              </a:ext>
            </a:extLst>
          </p:cNvPr>
          <p:cNvSpPr txBox="1"/>
          <p:nvPr/>
        </p:nvSpPr>
        <p:spPr>
          <a:xfrm>
            <a:off x="1437860" y="3069260"/>
            <a:ext cx="43400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 </a:t>
            </a:r>
            <a:r>
              <a:rPr lang="en-US" b="1" dirty="0">
                <a:sym typeface="Wingdings" pitchFamily="2" charset="2"/>
              </a:rPr>
              <a:t> 1 (18.3%): </a:t>
            </a:r>
            <a:r>
              <a:rPr lang="en-US" i="1" dirty="0">
                <a:sym typeface="Wingdings" pitchFamily="2" charset="2"/>
              </a:rPr>
              <a:t>Risk-accumulating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Likely future Segment 1 importers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Become economically important but structurally risky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Growth increases exposure rather than resilience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85206-77A7-691A-EE7F-85E97F6EFF8F}"/>
              </a:ext>
            </a:extLst>
          </p:cNvPr>
          <p:cNvSpPr txBox="1"/>
          <p:nvPr/>
        </p:nvSpPr>
        <p:spPr>
          <a:xfrm>
            <a:off x="1928192" y="5667582"/>
            <a:ext cx="67784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ym typeface="Wingdings" pitchFamily="2" charset="2"/>
              </a:rPr>
              <a:t>3  4 (5.7%): </a:t>
            </a:r>
            <a:r>
              <a:rPr lang="en-US" i="1" dirty="0">
                <a:sym typeface="Wingdings" pitchFamily="2" charset="2"/>
              </a:rPr>
              <a:t>Behavioral upgrade before scale</a:t>
            </a:r>
            <a:r>
              <a:rPr lang="en-US" b="1" dirty="0">
                <a:sym typeface="Wingdings" pitchFamily="2" charset="2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Watch-list cohort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Not yet attractive on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But showing early indicators of disciplined supply-chain design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30DBB2-3ED9-3438-A604-3F093FA1432A}"/>
              </a:ext>
            </a:extLst>
          </p:cNvPr>
          <p:cNvSpPr txBox="1"/>
          <p:nvPr/>
        </p:nvSpPr>
        <p:spPr>
          <a:xfrm>
            <a:off x="7663071" y="3061132"/>
            <a:ext cx="42009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 </a:t>
            </a:r>
            <a:r>
              <a:rPr lang="en-US" b="1" dirty="0">
                <a:sym typeface="Wingdings" pitchFamily="2" charset="2"/>
              </a:rPr>
              <a:t> 2 (29.5%): </a:t>
            </a:r>
            <a:r>
              <a:rPr lang="en-US" i="1" dirty="0">
                <a:sym typeface="Wingdings" pitchFamily="2" charset="2"/>
              </a:rPr>
              <a:t>Clean, resilient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Highest probability of becoming Seg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Scale without creating new fragility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Represent early-stage versions of best-in-class importers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E4D9-BB77-3984-3064-BD2CBA7C7AA6}"/>
              </a:ext>
            </a:extLst>
          </p:cNvPr>
          <p:cNvSpPr txBox="1"/>
          <p:nvPr/>
        </p:nvSpPr>
        <p:spPr>
          <a:xfrm>
            <a:off x="8852452" y="5972382"/>
            <a:ext cx="3339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=== Bootstrap Summary of Upgrade Probabilities===</a:t>
            </a:r>
          </a:p>
          <a:p>
            <a:pPr algn="ctr"/>
            <a:r>
              <a:rPr lang="en-US" sz="1100" dirty="0">
                <a:solidFill>
                  <a:srgbClr val="FF0000"/>
                </a:solidFill>
              </a:rPr>
              <a:t>p_31: mean=0.1829, 95% CI=(0.1789, 0.1869)</a:t>
            </a:r>
          </a:p>
          <a:p>
            <a:pPr algn="ctr"/>
            <a:r>
              <a:rPr lang="en-US" sz="1100" dirty="0">
                <a:solidFill>
                  <a:srgbClr val="FF0000"/>
                </a:solidFill>
              </a:rPr>
              <a:t>p_34: mean=0.0573, 95% CI=(0.0528, 0.0622)</a:t>
            </a:r>
          </a:p>
          <a:p>
            <a:pPr algn="ctr"/>
            <a:r>
              <a:rPr lang="en-US" sz="1100" dirty="0">
                <a:solidFill>
                  <a:srgbClr val="FF0000"/>
                </a:solidFill>
              </a:rPr>
              <a:t>p_42: mean=0.2938, 95% CI=(0.2390, 0.3486)</a:t>
            </a:r>
          </a:p>
        </p:txBody>
      </p:sp>
    </p:spTree>
    <p:extLst>
      <p:ext uri="{BB962C8B-B14F-4D97-AF65-F5344CB8AC3E}">
        <p14:creationId xmlns:p14="http://schemas.microsoft.com/office/powerpoint/2010/main" val="37197863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75998-9A71-C708-D597-8688398DA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38DED-3B16-497B-5951-DD96F04C2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Paths: Actionable Insight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D30A23-1067-8F1D-6FAF-2DD5D175D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12" y="1266618"/>
            <a:ext cx="7775713" cy="49037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10BE9F-06CF-5D17-AAAF-6D502A09D71F}"/>
              </a:ext>
            </a:extLst>
          </p:cNvPr>
          <p:cNvSpPr txBox="1"/>
          <p:nvPr/>
        </p:nvSpPr>
        <p:spPr>
          <a:xfrm>
            <a:off x="1437860" y="3069260"/>
            <a:ext cx="43003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 </a:t>
            </a:r>
            <a:r>
              <a:rPr lang="en-US" b="1" dirty="0">
                <a:sym typeface="Wingdings" pitchFamily="2" charset="2"/>
              </a:rPr>
              <a:t> 1 (18.3%): </a:t>
            </a:r>
            <a:r>
              <a:rPr lang="en-US" i="1" dirty="0">
                <a:sym typeface="Wingdings" pitchFamily="2" charset="2"/>
              </a:rPr>
              <a:t>Risk-accumulating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Flag these before they become large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Price in supply-chain risk early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Require diversification plans in diligence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Model downside scenarios (tariffs, country shocks)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81D117-1479-A05C-4F34-75F0A7813B37}"/>
              </a:ext>
            </a:extLst>
          </p:cNvPr>
          <p:cNvSpPr txBox="1"/>
          <p:nvPr/>
        </p:nvSpPr>
        <p:spPr>
          <a:xfrm>
            <a:off x="1928192" y="5667582"/>
            <a:ext cx="67784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ym typeface="Wingdings" pitchFamily="2" charset="2"/>
              </a:rPr>
              <a:t>3  4 (5.7%): </a:t>
            </a:r>
            <a:r>
              <a:rPr lang="en-US" i="1" dirty="0">
                <a:sym typeface="Wingdings" pitchFamily="2" charset="2"/>
              </a:rPr>
              <a:t>Behavioral upgrade before scale</a:t>
            </a:r>
            <a:r>
              <a:rPr lang="en-US" b="1" dirty="0">
                <a:sym typeface="Wingdings" pitchFamily="2" charset="2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Track these importers longitudinally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They are feeder pool for future Segment 4 winners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09086E-5CBB-7896-257F-A4F64C84442A}"/>
              </a:ext>
            </a:extLst>
          </p:cNvPr>
          <p:cNvSpPr txBox="1"/>
          <p:nvPr/>
        </p:nvSpPr>
        <p:spPr>
          <a:xfrm>
            <a:off x="7663071" y="3061132"/>
            <a:ext cx="42009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 </a:t>
            </a:r>
            <a:r>
              <a:rPr lang="en-US" b="1" dirty="0">
                <a:sym typeface="Wingdings" pitchFamily="2" charset="2"/>
              </a:rPr>
              <a:t> 2 (29.5%): </a:t>
            </a:r>
            <a:r>
              <a:rPr lang="en-US" i="1" dirty="0">
                <a:sym typeface="Wingdings" pitchFamily="2" charset="2"/>
              </a:rPr>
              <a:t>Clean, resilient scaling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Growth equity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Platform acquisitions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Buy-and-build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Long-term resilient portfolios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B2D16D-CEC4-284D-154D-6B848467F4A2}"/>
              </a:ext>
            </a:extLst>
          </p:cNvPr>
          <p:cNvSpPr txBox="1"/>
          <p:nvPr/>
        </p:nvSpPr>
        <p:spPr>
          <a:xfrm>
            <a:off x="8852452" y="5972382"/>
            <a:ext cx="3339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=== Bootstrap Summary of Upgrade Probabilities===</a:t>
            </a:r>
          </a:p>
          <a:p>
            <a:pPr algn="ctr"/>
            <a:r>
              <a:rPr lang="en-US" sz="1100" dirty="0">
                <a:solidFill>
                  <a:srgbClr val="FF0000"/>
                </a:solidFill>
              </a:rPr>
              <a:t>p_31: mean=0.1829, 95% CI=(0.1789, 0.1869)</a:t>
            </a:r>
          </a:p>
          <a:p>
            <a:pPr algn="ctr"/>
            <a:r>
              <a:rPr lang="en-US" sz="1100" dirty="0">
                <a:solidFill>
                  <a:srgbClr val="FF0000"/>
                </a:solidFill>
              </a:rPr>
              <a:t>p_34: mean=0.0573, 95% CI=(0.0528, 0.0622)</a:t>
            </a:r>
          </a:p>
          <a:p>
            <a:pPr algn="ctr"/>
            <a:r>
              <a:rPr lang="en-US" sz="1100" dirty="0">
                <a:solidFill>
                  <a:srgbClr val="FF0000"/>
                </a:solidFill>
              </a:rPr>
              <a:t>p_42: mean=0.2938, 95% CI=(0.2390, 0.3486)</a:t>
            </a:r>
          </a:p>
        </p:txBody>
      </p:sp>
    </p:spTree>
    <p:extLst>
      <p:ext uri="{BB962C8B-B14F-4D97-AF65-F5344CB8AC3E}">
        <p14:creationId xmlns:p14="http://schemas.microsoft.com/office/powerpoint/2010/main" val="456315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1191</TotalTime>
  <Words>1425</Words>
  <Application>Microsoft Macintosh PowerPoint</Application>
  <PresentationFormat>Widescreen</PresentationFormat>
  <Paragraphs>212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Cambria Math</vt:lpstr>
      <vt:lpstr>Wingdings</vt:lpstr>
      <vt:lpstr>Office Theme</vt:lpstr>
      <vt:lpstr>Coding Test</vt:lpstr>
      <vt:lpstr>Data Ingestion and Structural Validation</vt:lpstr>
      <vt:lpstr>TEU data standardized</vt:lpstr>
      <vt:lpstr>Exploratory Data Analysis</vt:lpstr>
      <vt:lpstr>Univariate Analysis</vt:lpstr>
      <vt:lpstr>Univariate Analysis</vt:lpstr>
      <vt:lpstr>TEU Distribution by Country of Origin</vt:lpstr>
      <vt:lpstr>TEU Distribution by Port of Unlading</vt:lpstr>
      <vt:lpstr>TEU Distribution Inequality by Volume</vt:lpstr>
      <vt:lpstr>TEU Distribution Inequality by Country of Origin</vt:lpstr>
      <vt:lpstr>Proportion by Country Dependency</vt:lpstr>
      <vt:lpstr>Ports and Logistics Analysis</vt:lpstr>
      <vt:lpstr>Ports and Logistics Analysis</vt:lpstr>
      <vt:lpstr>Country  Port TEU Flows</vt:lpstr>
      <vt:lpstr>Segmentation</vt:lpstr>
      <vt:lpstr>Importer Segments</vt:lpstr>
      <vt:lpstr>Importer Segments</vt:lpstr>
      <vt:lpstr>Predictive ML models</vt:lpstr>
      <vt:lpstr>Early-Warning Classifier (Segment 1 Risk)</vt:lpstr>
      <vt:lpstr>Supply-Chain Risk Scoring</vt:lpstr>
      <vt:lpstr>Supply-Chain Risk Scoring</vt:lpstr>
      <vt:lpstr>Impact of Diversification</vt:lpstr>
      <vt:lpstr>Impact of Diversification</vt:lpstr>
      <vt:lpstr>Scenario Stress Testing</vt:lpstr>
      <vt:lpstr>Growth/Segment-Upgrade Potential</vt:lpstr>
      <vt:lpstr>Upgrade Paths: Interpretation</vt:lpstr>
      <vt:lpstr>Upgrade Paths: Meaning</vt:lpstr>
      <vt:lpstr>Upgrade Paths: Actionable Insight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Drandreb Earl Juanico</dc:creator>
  <cp:lastModifiedBy>Drandreb Earl Juanico</cp:lastModifiedBy>
  <cp:revision>29</cp:revision>
  <dcterms:created xsi:type="dcterms:W3CDTF">2026-02-02T04:30:11Z</dcterms:created>
  <dcterms:modified xsi:type="dcterms:W3CDTF">2026-02-11T06:01:07Z</dcterms:modified>
</cp:coreProperties>
</file>